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media/image1.png" ContentType="image/png"/>
  <Override PartName="/ppt/media/image13.png" ContentType="image/png"/>
  <Override PartName="/ppt/media/image6.svg" ContentType="image/svg"/>
  <Override PartName="/ppt/media/image2.png" ContentType="image/png"/>
  <Override PartName="/ppt/media/image3.png" ContentType="image/png"/>
  <Override PartName="/ppt/media/image8.svg" ContentType="image/svg"/>
  <Override PartName="/ppt/media/image4.png" ContentType="image/png"/>
  <Override PartName="/ppt/media/image5.png" ContentType="image/png"/>
  <Override PartName="/ppt/media/image7.png" ContentType="image/png"/>
  <Override PartName="/ppt/media/image9.png" ContentType="image/png"/>
  <Override PartName="/ppt/media/image10.svg" ContentType="image/svg"/>
  <Override PartName="/ppt/media/image11.png" ContentType="image/png"/>
  <Override PartName="/ppt/media/image12.svg" ContentType="image/svg"/>
  <Override PartName="/ppt/media/image20.png" ContentType="image/png"/>
  <Override PartName="/ppt/media/image14.png" ContentType="image/png"/>
  <Override PartName="/ppt/media/image15.svg" ContentType="image/sv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перемещения страницы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308209-4F3A-4A3B-A2AB-103BDF1847FF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3CCA6B-7CAD-4EA0-8AC6-537040CCDEA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4B67A8-9657-4FF6-8BE1-84686DB7D82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68E31D-D30E-44B4-8622-422B0BB8E86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2D51DA-E553-4CAE-9BCE-9E8F7D83867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758F93-E82C-49B7-8C4F-6DCAF98CB36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AD9294-F98E-4880-9E6F-974C95181A3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2C6D61-8387-4C5F-86E1-8DB24F2A6C4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9B45BB-53A9-4FBB-8D1C-AAF014CDE33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AB00095-0240-4B7C-9566-44ACC2FFBF9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371311-681B-4D8C-BAE8-AEAC47F93AA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8e8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2.pn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14.png"/><Relationship Id="rId7" Type="http://schemas.openxmlformats.org/officeDocument/2006/relationships/image" Target="../media/image15.svg"/><Relationship Id="rId8" Type="http://schemas.openxmlformats.org/officeDocument/2006/relationships/image" Target="../media/image16.png"/><Relationship Id="rId9" Type="http://schemas.openxmlformats.org/officeDocument/2006/relationships/image" Target="../media/image2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github.com/GearFoxx/GeoAnonymizer" TargetMode="Externa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511560"/>
            <a:ext cx="82288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28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Министерство науки и высшего образования Российской Федерации Муромский институт (филиал) федерального государственного бюджетного образовательного учреждения высшего образования «Владимирский государственный университет имени Александра Григорьевича и Николая Григорьевича Столетовых» (МИ ВлГУ)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1249560"/>
            <a:ext cx="8686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8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2709720" y="1631160"/>
            <a:ext cx="349560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КУРСОВАЯ РАБОТА</a:t>
            </a:r>
            <a:endParaRPr b="0" lang="ru-RU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57200" y="2220120"/>
            <a:ext cx="822888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8000"/>
              </a:lnSpc>
              <a:spcAft>
                <a:spcPts val="1049"/>
              </a:spcAft>
              <a:tabLst>
                <a:tab algn="l" pos="0"/>
              </a:tabLst>
            </a:pPr>
            <a:r>
              <a:rPr b="0" lang="en-US" sz="12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Тищенко Анатолия Дмитриевича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8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На тему: разработка GUI приложения на языке C++ для анализа геолокационных метаданных в тексте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457200" y="2993400"/>
            <a:ext cx="822888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8000"/>
              </a:lnSpc>
              <a:spcAft>
                <a:spcPts val="1049"/>
              </a:spcAft>
              <a:tabLst>
                <a:tab algn="l" pos="0"/>
              </a:tabLst>
            </a:pPr>
            <a:r>
              <a:rPr b="0" lang="en-US" sz="12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Научный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28000"/>
              </a:lnSpc>
              <a:spcAft>
                <a:spcPts val="1049"/>
              </a:spcAft>
              <a:tabLst>
                <a:tab algn="l" pos="0"/>
              </a:tabLst>
            </a:pPr>
            <a:r>
              <a:rPr b="0" lang="en-US" sz="12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Руководитель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28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Колпаков А. А.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228600" y="4152960"/>
            <a:ext cx="845748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28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Муром 2026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4539600"/>
            <a:ext cx="8686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8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7920000" y="4839480"/>
            <a:ext cx="1238040" cy="30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8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0"/>
          <p:cNvSpPr/>
          <p:nvPr/>
        </p:nvSpPr>
        <p:spPr>
          <a:xfrm>
            <a:off x="449640" y="386280"/>
            <a:ext cx="366876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ВВЕДЕНИЕ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449640" y="962280"/>
            <a:ext cx="481536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В эпоху информационного взрыва тексты, документы и соцсети содержат метаданные о местоположении, которые не всегда предназначены для публичного доступа.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449640" y="1485000"/>
            <a:ext cx="4815360" cy="1143360"/>
          </a:xfrm>
          <a:prstGeom prst="roundRect">
            <a:avLst>
              <a:gd name="adj" fmla="val 5996"/>
            </a:avLst>
          </a:prstGeom>
          <a:solidFill>
            <a:srgbClr val="e8e8e3"/>
          </a:solidFill>
          <a:ln w="14288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435240" y="1485000"/>
            <a:ext cx="56880" cy="1143360"/>
          </a:xfrm>
          <a:prstGeom prst="roundRect">
            <a:avLst>
              <a:gd name="adj" fmla="val 33721"/>
            </a:avLst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635040" y="1627920"/>
            <a:ext cx="1605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АКТУАЛЬНОСТЬ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635040" y="1898280"/>
            <a:ext cx="4487040" cy="58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Необходимость автоматического анализа неструктурированного текста, применение в журналистике, мониторинге и разведке, дефицит удобных GUI-инструментов на C++.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449640" y="2745360"/>
            <a:ext cx="4815360" cy="947520"/>
          </a:xfrm>
          <a:prstGeom prst="roundRect">
            <a:avLst>
              <a:gd name="adj" fmla="val 7236"/>
            </a:avLst>
          </a:prstGeom>
          <a:solidFill>
            <a:srgbClr val="e8e8e3"/>
          </a:solidFill>
          <a:ln w="14288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435240" y="2745360"/>
            <a:ext cx="56880" cy="947520"/>
          </a:xfrm>
          <a:prstGeom prst="roundRect">
            <a:avLst>
              <a:gd name="adj" fmla="val 33721"/>
            </a:avLst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635040" y="2887920"/>
            <a:ext cx="1605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ЦЕЛЬ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635040" y="3158280"/>
            <a:ext cx="448704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Разработка графического приложения на C++ для автоматизированного поиска и скрытия геоданных в текстовых файлах.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449640" y="3809520"/>
            <a:ext cx="4815360" cy="947520"/>
          </a:xfrm>
          <a:prstGeom prst="roundRect">
            <a:avLst>
              <a:gd name="adj" fmla="val 7236"/>
            </a:avLst>
          </a:prstGeom>
          <a:solidFill>
            <a:srgbClr val="e8e8e3"/>
          </a:solidFill>
          <a:ln w="14288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435240" y="3809520"/>
            <a:ext cx="56880" cy="947520"/>
          </a:xfrm>
          <a:prstGeom prst="roundRect">
            <a:avLst>
              <a:gd name="adj" fmla="val 33721"/>
            </a:avLst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635040" y="3952080"/>
            <a:ext cx="1605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ЗАДАЧИ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635040" y="4222800"/>
            <a:ext cx="448704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Изучение подходов к анализу геоданных, разработка приложения, реализация модуля хранения, создание GUI, тестирование эффективности.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426240" y="429840"/>
            <a:ext cx="3962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АНАЛИЗ ТРЕБОВАНИЙ</a:t>
            </a:r>
            <a:endParaRPr b="0" lang="ru-RU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426240" y="1442160"/>
            <a:ext cx="4446360" cy="252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1"/>
          <p:cNvSpPr/>
          <p:nvPr/>
        </p:nvSpPr>
        <p:spPr>
          <a:xfrm>
            <a:off x="426240" y="4081320"/>
            <a:ext cx="5742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6013800" y="1072080"/>
            <a:ext cx="3109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ФУНКЦИОНАЛЬНЫЕ ТРЕБОВАНИЯ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6013800" y="1367280"/>
            <a:ext cx="2708280" cy="11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24000"/>
              </a:lnSpc>
              <a:buClr>
                <a:srgbClr val="55575a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Загрузка .txt-файла через кнопку «Открыть файл»</a:t>
            </a:r>
            <a:endParaRPr b="0" lang="ru-RU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4000"/>
              </a:lnSpc>
              <a:buClr>
                <a:srgbClr val="55575a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Поиск координат и вывод через «Показать найденные координаты»</a:t>
            </a:r>
            <a:endParaRPr b="0" lang="ru-RU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4000"/>
              </a:lnSpc>
              <a:buClr>
                <a:srgbClr val="55575a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Замена координат на *** и сохранение через «Заменить данные и сохранить»</a:t>
            </a:r>
            <a:endParaRPr b="0" lang="ru-RU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6013800" y="2632320"/>
            <a:ext cx="2708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НЕФУНКЦИОНАЛЬНЫЕ ТРЕБОВАНИЯ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6013800" y="3117600"/>
            <a:ext cx="2708280" cy="155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24000"/>
              </a:lnSpc>
              <a:buClr>
                <a:srgbClr val="55575a"/>
              </a:buClr>
              <a:buFont typeface="Symbol" charset="2"/>
              <a:buChar char=""/>
            </a:pPr>
            <a:r>
              <a:rPr b="1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Производительность:</a:t>
            </a:r>
            <a:r>
              <a:rPr b="0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мгновенный поиск и сохранение</a:t>
            </a:r>
            <a:endParaRPr b="0" lang="ru-RU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4000"/>
              </a:lnSpc>
              <a:buClr>
                <a:srgbClr val="55575a"/>
              </a:buClr>
              <a:buFont typeface="Symbol" charset="2"/>
              <a:buChar char=""/>
            </a:pPr>
            <a:r>
              <a:rPr b="1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Надёжность:</a:t>
            </a:r>
            <a:r>
              <a:rPr b="0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100% координат, без ложных срабатываний и иероглифов</a:t>
            </a:r>
            <a:endParaRPr b="0" lang="ru-RU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4000"/>
              </a:lnSpc>
              <a:buClr>
                <a:srgbClr val="55575a"/>
              </a:buClr>
              <a:buFont typeface="Symbol" charset="2"/>
              <a:buChar char=""/>
            </a:pPr>
            <a:r>
              <a:rPr b="1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Переносимость:</a:t>
            </a:r>
            <a:r>
              <a:rPr b="0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статическая линковка, без внешних DLL на Windows</a:t>
            </a:r>
            <a:endParaRPr b="0" lang="ru-RU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4000"/>
              </a:lnSpc>
              <a:buClr>
                <a:srgbClr val="55575a"/>
              </a:buClr>
              <a:buFont typeface="Symbol" charset="2"/>
              <a:buChar char=""/>
            </a:pPr>
            <a:r>
              <a:rPr b="1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Удобство:</a:t>
            </a:r>
            <a:r>
              <a:rPr b="0" lang="en-US" sz="9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интуитивный интерфейс с визуальной обратной связью</a:t>
            </a:r>
            <a:endParaRPr b="0" lang="ru-RU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7905960" y="4839480"/>
            <a:ext cx="1238040" cy="30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96080" y="686520"/>
            <a:ext cx="808092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7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ТЕХНОЛОГИЧЕСКИЙ СТЕК И АРХИТЕКТУРА</a:t>
            </a:r>
            <a:endParaRPr b="0" lang="ru-RU" sz="2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496080" y="1501560"/>
            <a:ext cx="1880280" cy="1326960"/>
          </a:xfrm>
          <a:prstGeom prst="roundRect">
            <a:avLst>
              <a:gd name="adj" fmla="val 1602"/>
            </a:avLst>
          </a:prstGeom>
          <a:solidFill>
            <a:srgbClr val="c8cac1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637920" y="1643040"/>
            <a:ext cx="15966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Hubot Sans Bold"/>
                <a:ea typeface="Hubot Sans Bold"/>
              </a:rPr>
              <a:t>C++17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637920" y="2006280"/>
            <a:ext cx="15966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Roboto Condensed"/>
                <a:ea typeface="Roboto Condensed"/>
              </a:rPr>
              <a:t>Основной язык разработки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2518560" y="1501560"/>
            <a:ext cx="1880280" cy="1326960"/>
          </a:xfrm>
          <a:prstGeom prst="roundRect">
            <a:avLst>
              <a:gd name="adj" fmla="val 1602"/>
            </a:avLst>
          </a:prstGeom>
          <a:solidFill>
            <a:srgbClr val="c8cac1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2660400" y="1643040"/>
            <a:ext cx="15966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Hubot Sans Bold"/>
                <a:ea typeface="Hubot Sans Bold"/>
              </a:rPr>
              <a:t>MFC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2660400" y="2006280"/>
            <a:ext cx="159660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Roboto Condensed"/>
                <a:ea typeface="Roboto Condensed"/>
              </a:rPr>
              <a:t>Microsoft Foundation Classes — быстрый фреймворк для Windows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496080" y="2970360"/>
            <a:ext cx="1880280" cy="1326960"/>
          </a:xfrm>
          <a:prstGeom prst="roundRect">
            <a:avLst>
              <a:gd name="adj" fmla="val 1602"/>
            </a:avLst>
          </a:prstGeom>
          <a:solidFill>
            <a:srgbClr val="c8cac1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637920" y="3112200"/>
            <a:ext cx="15966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Hubot Sans Bold"/>
                <a:ea typeface="Hubot Sans Bold"/>
              </a:rPr>
              <a:t>STD::REGEX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637920" y="3475440"/>
            <a:ext cx="15966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Roboto Condensed"/>
                <a:ea typeface="Roboto Condensed"/>
              </a:rPr>
              <a:t>Регулярные выражения для поиска координат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2518560" y="2970360"/>
            <a:ext cx="1880280" cy="1326960"/>
          </a:xfrm>
          <a:prstGeom prst="roundRect">
            <a:avLst>
              <a:gd name="adj" fmla="val 1602"/>
            </a:avLst>
          </a:prstGeom>
          <a:solidFill>
            <a:srgbClr val="c8cac1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2660400" y="3112200"/>
            <a:ext cx="15966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Hubot Sans Bold"/>
                <a:ea typeface="Hubot Sans Bold"/>
              </a:rPr>
              <a:t>STD::VECTOR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2660400" y="3475440"/>
            <a:ext cx="159660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Roboto Condensed"/>
                <a:ea typeface="Roboto Condensed"/>
              </a:rPr>
              <a:t>Хранение найденных координат с сохранением порядка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4749840" y="1483920"/>
            <a:ext cx="22287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ПОЧЕМУ MFC?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4749840" y="1846800"/>
            <a:ext cx="3902760" cy="12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33000"/>
              </a:lnSpc>
              <a:buClr>
                <a:srgbClr val="55575a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Высокая производительность и экономия ресурсов по сравнению с .NET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55575a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Статическая линковка — нет зависимостей от DLL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55575a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Широкие возможности настройки CListCtrl и CEdit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33000"/>
              </a:lnSpc>
              <a:buClr>
                <a:srgbClr val="55575a"/>
              </a:buClr>
              <a:buFont typeface="Symbol" charset="2"/>
              <a:buChar char=""/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Хорошая совместимость со стандартной библиотекой C++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4749840" y="3257280"/>
            <a:ext cx="390276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Архитектура: Dialog-Based Application. Основной класс — </a:t>
            </a:r>
            <a:r>
              <a:rPr b="1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CGeoAnonymizerDlg</a:t>
            </a: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(наследуется от CDialogEx).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7905960" y="4839480"/>
            <a:ext cx="1238040" cy="30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496080" y="775080"/>
            <a:ext cx="485244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7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МОДУЛИ ПРИЛОЖЕНИЯ</a:t>
            </a:r>
            <a:endParaRPr b="0" lang="ru-RU" sz="2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96080" y="1501560"/>
            <a:ext cx="3538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1"/>
          <p:cNvSpPr/>
          <p:nvPr/>
        </p:nvSpPr>
        <p:spPr>
          <a:xfrm>
            <a:off x="496080" y="2032920"/>
            <a:ext cx="18349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ПОИСК КООРДИНАТ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496080" y="2339640"/>
            <a:ext cx="39870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FindCoordinates()</a:t>
            </a: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— обнаружение пар чисел в десятичном формате в тексте и имени файла через </a:t>
            </a:r>
            <a:r>
              <a:rPr b="1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std::regex</a:t>
            </a: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, исключение дубликатов.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660560" y="1501560"/>
            <a:ext cx="3538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3"/>
          <p:cNvSpPr/>
          <p:nvPr/>
        </p:nvSpPr>
        <p:spPr>
          <a:xfrm>
            <a:off x="4660560" y="203292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АНОНИМИЗАЦИЯ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4660560" y="2339640"/>
            <a:ext cx="39870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AnonymizeText()</a:t>
            </a: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— замена всех найденных координат на </a:t>
            </a:r>
            <a:r>
              <a:rPr b="1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***</a:t>
            </a: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с сохранением структуры документа.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96080" y="3076560"/>
            <a:ext cx="3538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5"/>
          <p:cNvSpPr/>
          <p:nvPr/>
        </p:nvSpPr>
        <p:spPr>
          <a:xfrm>
            <a:off x="496080" y="3608280"/>
            <a:ext cx="18741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РАБОТА С ФАЙЛАМИ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496080" y="3914640"/>
            <a:ext cx="39870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OnBnClickedBtnOpen()</a:t>
            </a: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и </a:t>
            </a:r>
            <a:r>
              <a:rPr b="1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OnBnClickedBtnAnonymize()</a:t>
            </a: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— выбор файла через CFileDialog, чтение/запись через ifstream/ofstream.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660560" y="3076560"/>
            <a:ext cx="353880" cy="35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7"/>
          <p:cNvSpPr/>
          <p:nvPr/>
        </p:nvSpPr>
        <p:spPr>
          <a:xfrm>
            <a:off x="4660560" y="3608280"/>
            <a:ext cx="26834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ОТОБРАЖЕНИЕ РЕЗУЛЬТАТОВ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4660560" y="3914640"/>
            <a:ext cx="39870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OnBnClickedBtnShowCoords()</a:t>
            </a: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— вывод координат в CListBox с визуальной обратной связью.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9"/>
          <a:stretch/>
        </p:blipFill>
        <p:spPr>
          <a:xfrm>
            <a:off x="7905960" y="4839480"/>
            <a:ext cx="1238040" cy="30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402480"/>
            <a:ext cx="499968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ИНТЕРФЕЙС ПРИЛОЖЕНИЯ</a:t>
            </a:r>
            <a:endParaRPr b="0" lang="ru-RU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preencoded.png"/>
          <p:cNvPicPr/>
          <p:nvPr/>
        </p:nvPicPr>
        <p:blipFill>
          <a:blip r:embed="rId1"/>
          <a:stretch/>
        </p:blipFill>
        <p:spPr>
          <a:xfrm>
            <a:off x="457200" y="1749240"/>
            <a:ext cx="5236920" cy="192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"/>
          <p:cNvSpPr/>
          <p:nvPr/>
        </p:nvSpPr>
        <p:spPr>
          <a:xfrm>
            <a:off x="457200" y="3809520"/>
            <a:ext cx="56941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8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6018480" y="1112040"/>
            <a:ext cx="2841840" cy="2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СТРУКТУРА ГЛАВНОГО ОКНА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67440" y="1458360"/>
            <a:ext cx="195480" cy="19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3"/>
          <p:cNvSpPr/>
          <p:nvPr/>
        </p:nvSpPr>
        <p:spPr>
          <a:xfrm>
            <a:off x="6442920" y="1451880"/>
            <a:ext cx="2247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8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Верх:</a:t>
            </a:r>
            <a:r>
              <a:rPr b="0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поле пути к файлу (только чтение) + кнопка «Открыть файл...»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067440" y="2100960"/>
            <a:ext cx="195480" cy="19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4"/>
          <p:cNvSpPr/>
          <p:nvPr/>
        </p:nvSpPr>
        <p:spPr>
          <a:xfrm>
            <a:off x="6442920" y="2094480"/>
            <a:ext cx="22478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8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Центр:</a:t>
            </a:r>
            <a:r>
              <a:rPr b="0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список найденных координат (CListBox) + кнопка «Показать найденные координаты»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067440" y="2944440"/>
            <a:ext cx="195480" cy="19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5"/>
          <p:cNvSpPr/>
          <p:nvPr/>
        </p:nvSpPr>
        <p:spPr>
          <a:xfrm>
            <a:off x="6442920" y="2937960"/>
            <a:ext cx="22478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8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Низ:</a:t>
            </a:r>
            <a:r>
              <a:rPr b="0" lang="en-US" sz="10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кнопка «Заменить координаты и сохранить» + поле пути к сохранённому файлу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6018480" y="3675960"/>
            <a:ext cx="2672640" cy="929160"/>
          </a:xfrm>
          <a:prstGeom prst="roundRect">
            <a:avLst>
              <a:gd name="adj" fmla="val 2109"/>
            </a:avLst>
          </a:prstGeom>
          <a:solidFill>
            <a:srgbClr val="b6d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4" descr="preencoded.png"/>
          <p:cNvPicPr/>
          <p:nvPr/>
        </p:nvPicPr>
        <p:blipFill>
          <a:blip r:embed="rId8"/>
          <a:stretch/>
        </p:blipFill>
        <p:spPr>
          <a:xfrm>
            <a:off x="6149160" y="3867840"/>
            <a:ext cx="163080" cy="13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7"/>
          <p:cNvSpPr/>
          <p:nvPr/>
        </p:nvSpPr>
        <p:spPr>
          <a:xfrm>
            <a:off x="6442920" y="3828960"/>
            <a:ext cx="21171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8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Roboto Condensed"/>
                <a:ea typeface="Roboto Condensed"/>
              </a:rPr>
              <a:t>Поддержка UTF-8 обеспечивает корректную работу с русскоязычными текстами.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9"/>
          <a:stretch/>
        </p:blipFill>
        <p:spPr>
          <a:xfrm>
            <a:off x="7905960" y="4839480"/>
            <a:ext cx="1238040" cy="30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45320" y="340560"/>
            <a:ext cx="427176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КЛЮЧЕВЫЕ АЛГОРИТМЫ</a:t>
            </a:r>
            <a:endParaRPr b="0" lang="ru-RU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0" descr="preencoded.png"/>
          <p:cNvPicPr/>
          <p:nvPr/>
        </p:nvPicPr>
        <p:blipFill>
          <a:blip r:embed="rId1"/>
          <a:stretch/>
        </p:blipFill>
        <p:spPr>
          <a:xfrm>
            <a:off x="2148120" y="916200"/>
            <a:ext cx="4847040" cy="287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1"/>
          <p:cNvSpPr/>
          <p:nvPr/>
        </p:nvSpPr>
        <p:spPr>
          <a:xfrm>
            <a:off x="5522040" y="3009960"/>
            <a:ext cx="120456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СОХРАНЕНИЕ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4003560" y="3009960"/>
            <a:ext cx="120456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АНОНИМИЗАЦИЯ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2231640" y="3125880"/>
            <a:ext cx="143316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ПОИСК</a:t>
            </a:r>
            <a:endParaRPr b="0" lang="ru-RU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445320" y="3906720"/>
            <a:ext cx="825300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Поиск координат реализован через регулярные выражения (</a:t>
            </a:r>
            <a:r>
              <a:rPr b="0" lang="en-US" sz="900" strike="noStrike" u="none">
                <a:solidFill>
                  <a:srgbClr val="55575a"/>
                </a:solidFill>
                <a:effectLst/>
                <a:highlight>
                  <a:srgbClr val="dbdbd6"/>
                </a:highlight>
                <a:uFillTx/>
                <a:latin typeface="Consolas"/>
                <a:ea typeface="Consolas"/>
              </a:rPr>
              <a:t>std::regex</a:t>
            </a: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), которые обнаруживают пары чисел в десятичном формате (например, </a:t>
            </a:r>
            <a:r>
              <a:rPr b="0" lang="en-US" sz="900" strike="noStrike" u="none">
                <a:solidFill>
                  <a:srgbClr val="55575a"/>
                </a:solidFill>
                <a:effectLst/>
                <a:highlight>
                  <a:srgbClr val="dbdbd6"/>
                </a:highlight>
                <a:uFillTx/>
                <a:latin typeface="Consolas"/>
                <a:ea typeface="Consolas"/>
              </a:rPr>
              <a:t>55.7539, 37.6208</a:t>
            </a: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) с учётом возможных пробелов вокруг разделителя. Поиск осуществляется как в содержимом файла, так и в его имени. Найденные координаты сохраняются в </a:t>
            </a:r>
            <a:r>
              <a:rPr b="0" lang="en-US" sz="900" strike="noStrike" u="none">
                <a:solidFill>
                  <a:srgbClr val="55575a"/>
                </a:solidFill>
                <a:effectLst/>
                <a:highlight>
                  <a:srgbClr val="dbdbd6"/>
                </a:highlight>
                <a:uFillTx/>
                <a:latin typeface="Consolas"/>
                <a:ea typeface="Consolas"/>
              </a:rPr>
              <a:t>std::vector&lt;std::string&gt;</a:t>
            </a: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с автоматическим исключением дубликатов. Замена также производится с помощью регулярных выражений, что обеспечивает точную и надёжную обработку координат независимо от их расположения в тексте. Работа с файлами реализована через </a:t>
            </a:r>
            <a:r>
              <a:rPr b="0" lang="en-US" sz="900" strike="noStrike" u="none">
                <a:solidFill>
                  <a:srgbClr val="55575a"/>
                </a:solidFill>
                <a:effectLst/>
                <a:highlight>
                  <a:srgbClr val="dbdbd6"/>
                </a:highlight>
                <a:uFillTx/>
                <a:latin typeface="Consolas"/>
                <a:ea typeface="Consolas"/>
              </a:rPr>
              <a:t>std::ifstream</a:t>
            </a: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(чтение) и </a:t>
            </a:r>
            <a:r>
              <a:rPr b="0" lang="en-US" sz="900" strike="noStrike" u="none">
                <a:solidFill>
                  <a:srgbClr val="55575a"/>
                </a:solidFill>
                <a:effectLst/>
                <a:highlight>
                  <a:srgbClr val="dbdbd6"/>
                </a:highlight>
                <a:uFillTx/>
                <a:latin typeface="Consolas"/>
                <a:ea typeface="Consolas"/>
              </a:rPr>
              <a:t>std::ofstream</a:t>
            </a: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(запись) в бинарном режиме для корректной обработки UTF-8.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7905960" y="4839480"/>
            <a:ext cx="1238040" cy="30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21640" y="336600"/>
            <a:ext cx="339192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ТЕСТИРОВАНИЕ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21640" y="1112040"/>
            <a:ext cx="23990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КОНФИГУРАЦИИ СИСТЕМ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21640" y="1392480"/>
            <a:ext cx="264888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22000"/>
              </a:lnSpc>
              <a:buClr>
                <a:srgbClr val="55575a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Windows 10 (22H2) · Intel Core i5-4200U · 8 ГБ ОЗУ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2000"/>
              </a:lnSpc>
              <a:buClr>
                <a:srgbClr val="55575a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Windows 10 (22H2) · Intel Core i7-3770 · 16 ГБ ОЗУ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2000"/>
              </a:lnSpc>
              <a:buClr>
                <a:srgbClr val="55575a"/>
              </a:buClr>
              <a:buFont typeface="Symbol" charset="2"/>
              <a:buChar char=""/>
            </a:pP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Windows 10 (22H2) · Intel Core i3-12100F · 16 ГБ ОЗУ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521640" y="2234520"/>
            <a:ext cx="26488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Среда сборки: </a:t>
            </a:r>
            <a:r>
              <a:rPr b="1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Visual Studio 2022</a:t>
            </a: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, инструмент v143, статическая линковка MFC.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521640" y="2675160"/>
            <a:ext cx="19242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ТЕСТОВЫЕ ФАЙЛЫ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521640" y="2955960"/>
            <a:ext cx="264888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43080" indent="-343080">
              <a:lnSpc>
                <a:spcPct val="122000"/>
              </a:lnSpc>
              <a:buClr>
                <a:srgbClr val="55575a"/>
              </a:buClr>
              <a:buFont typeface="Symbol" charset="2"/>
              <a:buChar char=""/>
            </a:pPr>
            <a:r>
              <a:rPr b="1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test_coordinates_1.txt</a:t>
            </a: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— координаты в английском тексте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2000"/>
              </a:lnSpc>
              <a:buClr>
                <a:srgbClr val="55575a"/>
              </a:buClr>
              <a:buFont typeface="Symbol" charset="2"/>
              <a:buChar char=""/>
            </a:pPr>
            <a:r>
              <a:rPr b="1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test_coordinates_2.txt</a:t>
            </a: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— числа, не являющиеся координатами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2000"/>
              </a:lnSpc>
              <a:buClr>
                <a:srgbClr val="55575a"/>
              </a:buClr>
              <a:buFont typeface="Symbol" charset="2"/>
              <a:buChar char=""/>
            </a:pPr>
            <a:r>
              <a:rPr b="1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test_coordinates_ru_1/2.txt</a:t>
            </a:r>
            <a:r>
              <a:rPr b="0" lang="en-US" sz="9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 — русскоязычные версии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0" descr="preencoded.png"/>
          <p:cNvPicPr/>
          <p:nvPr/>
        </p:nvPicPr>
        <p:blipFill>
          <a:blip r:embed="rId1"/>
          <a:stretch/>
        </p:blipFill>
        <p:spPr>
          <a:xfrm>
            <a:off x="3461760" y="958320"/>
            <a:ext cx="5164920" cy="292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6"/>
          <p:cNvSpPr/>
          <p:nvPr/>
        </p:nvSpPr>
        <p:spPr>
          <a:xfrm>
            <a:off x="3461760" y="3994560"/>
            <a:ext cx="56221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521640" y="4362840"/>
            <a:ext cx="8100360" cy="443880"/>
          </a:xfrm>
          <a:prstGeom prst="roundRect">
            <a:avLst>
              <a:gd name="adj" fmla="val 3964"/>
            </a:avLst>
          </a:prstGeom>
          <a:solidFill>
            <a:srgbClr val="b6fc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1" descr="preencoded.png"/>
          <p:cNvPicPr/>
          <p:nvPr/>
        </p:nvPicPr>
        <p:blipFill>
          <a:blip r:embed="rId2"/>
          <a:stretch/>
        </p:blipFill>
        <p:spPr>
          <a:xfrm>
            <a:off x="639000" y="4530600"/>
            <a:ext cx="146520" cy="11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8"/>
          <p:cNvSpPr/>
          <p:nvPr/>
        </p:nvSpPr>
        <p:spPr>
          <a:xfrm>
            <a:off x="903240" y="4489200"/>
            <a:ext cx="805860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Roboto Condensed"/>
                <a:ea typeface="Roboto Condensed"/>
              </a:rPr>
              <a:t>Все сценарии пройдены: координаты находятся и заменяются на ***, посторонний текст не затрагивается, UTF-8 обрабатывается корректно.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3"/>
          <a:stretch/>
        </p:blipFill>
        <p:spPr>
          <a:xfrm>
            <a:off x="7905960" y="4839480"/>
            <a:ext cx="1238040" cy="30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496080" y="406800"/>
            <a:ext cx="61725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75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РУКОВОДСТВО ПОЛЬЗОВАТЕЛЯ</a:t>
            </a:r>
            <a:endParaRPr b="0" lang="ru-RU" sz="2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496080" y="1133640"/>
            <a:ext cx="283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Hubot Sans Light"/>
                <a:ea typeface="Hubot Sans Light"/>
              </a:rPr>
              <a:t>01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496080" y="1355400"/>
            <a:ext cx="4004640" cy="18720"/>
          </a:xfrm>
          <a:prstGeom prst="rect">
            <a:avLst/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496080" y="146448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ЗАПУСК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496080" y="1770840"/>
            <a:ext cx="400464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Открыть папку с программой и дважды щёлкнуть по </a:t>
            </a:r>
            <a:r>
              <a:rPr b="1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GeoAnonymizer.exe</a:t>
            </a: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. Установка не требуется — достаточно скопировать исполняемый файл. Необходима Windows 10 или старше.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4642920" y="1133640"/>
            <a:ext cx="283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Hubot Sans Light"/>
                <a:ea typeface="Hubot Sans Light"/>
              </a:rPr>
              <a:t>02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6"/>
          <p:cNvSpPr/>
          <p:nvPr/>
        </p:nvSpPr>
        <p:spPr>
          <a:xfrm>
            <a:off x="4642920" y="1355400"/>
            <a:ext cx="4004640" cy="18720"/>
          </a:xfrm>
          <a:prstGeom prst="rect">
            <a:avLst/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4642920" y="146448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ОТКРЫТЬ ФАЙЛ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4642920" y="1770840"/>
            <a:ext cx="400464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Нажать «Открыть файл...» и выбрать текстовый документ (.txt). Путь отобразится в верхнем поле.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496080" y="2926080"/>
            <a:ext cx="283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Hubot Sans Light"/>
                <a:ea typeface="Hubot Sans Light"/>
              </a:rPr>
              <a:t>03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0"/>
          <p:cNvSpPr/>
          <p:nvPr/>
        </p:nvSpPr>
        <p:spPr>
          <a:xfrm>
            <a:off x="496080" y="3147840"/>
            <a:ext cx="4004640" cy="18720"/>
          </a:xfrm>
          <a:prstGeom prst="rect">
            <a:avLst/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496080" y="3256920"/>
            <a:ext cx="1996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НАЙТИ КООРДИНАТЫ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496080" y="3563640"/>
            <a:ext cx="400464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Нажать «Показать найденные координаты» — результат появится в списке. Если координаты не найдены, программа сообщит об этом.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4642920" y="2926080"/>
            <a:ext cx="28332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Hubot Sans Light"/>
                <a:ea typeface="Hubot Sans Light"/>
              </a:rPr>
              <a:t>04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4"/>
          <p:cNvSpPr/>
          <p:nvPr/>
        </p:nvSpPr>
        <p:spPr>
          <a:xfrm>
            <a:off x="4642920" y="3147840"/>
            <a:ext cx="4004640" cy="18720"/>
          </a:xfrm>
          <a:prstGeom prst="rect">
            <a:avLst/>
          </a:prstGeom>
          <a:solidFill>
            <a:srgbClr val="c8ca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5"/>
          <p:cNvSpPr/>
          <p:nvPr/>
        </p:nvSpPr>
        <p:spPr>
          <a:xfrm>
            <a:off x="4642920" y="3256920"/>
            <a:ext cx="21481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55575a"/>
                </a:solidFill>
                <a:effectLst/>
                <a:uFillTx/>
                <a:latin typeface="Hubot Sans Bold"/>
                <a:ea typeface="Hubot Sans Bold"/>
              </a:rPr>
              <a:t>СОХРАНИТЬ РЕЗУЛЬТАТ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4642920" y="3563640"/>
            <a:ext cx="400464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Нажать «Заменить координаты и сохранить», выбрать место сохранения. Координаты заменены на </a:t>
            </a:r>
            <a:r>
              <a:rPr b="1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***</a:t>
            </a: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, путь к файлу отображается в нижнем поле.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7"/>
          <p:cNvSpPr/>
          <p:nvPr/>
        </p:nvSpPr>
        <p:spPr>
          <a:xfrm>
            <a:off x="496080" y="4509720"/>
            <a:ext cx="86086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Исходный код: </a:t>
            </a:r>
            <a:r>
              <a:rPr b="0" lang="en-US" sz="1100" strike="noStrike" u="sng">
                <a:solidFill>
                  <a:srgbClr val="1e1e1a"/>
                </a:solidFill>
                <a:effectLst/>
                <a:uFillTx/>
                <a:latin typeface="Roboto Condensed"/>
                <a:ea typeface="Roboto Condensed"/>
                <a:hlinkClick r:id="rId1"/>
              </a:rPr>
              <a:t>github.com/GearFoxx/GeoAnonymizer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2"/>
          <a:stretch/>
        </p:blipFill>
        <p:spPr>
          <a:xfrm>
            <a:off x="7905960" y="4839480"/>
            <a:ext cx="1238040" cy="30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age 0" descr="preencoded.png"/>
          <p:cNvPicPr/>
          <p:nvPr/>
        </p:nvPicPr>
        <p:blipFill>
          <a:blip r:embed="rId1"/>
          <a:stretch/>
        </p:blipFill>
        <p:spPr>
          <a:xfrm>
            <a:off x="5715000" y="0"/>
            <a:ext cx="3428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 0"/>
          <p:cNvSpPr/>
          <p:nvPr/>
        </p:nvSpPr>
        <p:spPr>
          <a:xfrm>
            <a:off x="480600" y="465480"/>
            <a:ext cx="389016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0c0d0f"/>
                </a:solidFill>
                <a:effectLst/>
                <a:uFillTx/>
                <a:latin typeface="Hubot Sans Bold"/>
                <a:ea typeface="Hubot Sans Bold"/>
              </a:rPr>
              <a:t>ЗАКЛЮЧЕНИЕ</a:t>
            </a:r>
            <a:endParaRPr b="0" lang="ru-RU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480600" y="1094400"/>
            <a:ext cx="475344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1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5575a"/>
                </a:solidFill>
                <a:effectLst/>
                <a:uFillTx/>
                <a:latin typeface="Roboto Condensed"/>
                <a:ea typeface="Roboto Condensed"/>
              </a:rPr>
              <a:t>Цель достигнута: разработано GUI-приложение на C++/MFC для автоматического поиска и скрытия геолокационных метаданных в текстовых файлах.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480600" y="1676520"/>
            <a:ext cx="2310120" cy="1866600"/>
          </a:xfrm>
          <a:prstGeom prst="roundRect">
            <a:avLst>
              <a:gd name="adj" fmla="val 1104"/>
            </a:avLst>
          </a:prstGeom>
          <a:solidFill>
            <a:srgbClr val="c8cac1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617760" y="1813680"/>
            <a:ext cx="171612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Hubot Sans Bold"/>
                <a:ea typeface="Hubot Sans Bold"/>
              </a:rPr>
              <a:t>РЕАЛИЗОВАНО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617760" y="2108160"/>
            <a:ext cx="2035440" cy="12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1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 Condensed"/>
                <a:ea typeface="Roboto Condensed"/>
              </a:rPr>
              <a:t>Архитектура с модулями поиска, анонимизации и работы с файлами; удобный GUI; алгоритмы на std::regex; поддержка UTF-8; тестирование на русско- и англоязычных данных.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5"/>
          <p:cNvSpPr/>
          <p:nvPr/>
        </p:nvSpPr>
        <p:spPr>
          <a:xfrm>
            <a:off x="2923920" y="1676520"/>
            <a:ext cx="2310120" cy="1866600"/>
          </a:xfrm>
          <a:prstGeom prst="roundRect">
            <a:avLst>
              <a:gd name="adj" fmla="val 1104"/>
            </a:avLst>
          </a:prstGeom>
          <a:solidFill>
            <a:srgbClr val="c8cac1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3061080" y="1813680"/>
            <a:ext cx="171612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Hubot Sans Bold"/>
                <a:ea typeface="Hubot Sans Bold"/>
              </a:rPr>
              <a:t>ПРИМЕНЕНИЕ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3061080" y="2108160"/>
            <a:ext cx="2035440" cy="12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1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 Condensed"/>
                <a:ea typeface="Roboto Condensed"/>
              </a:rPr>
              <a:t>Журналисты, блогеры, специалисты по информационной безопасности, правоохранительные органы — для предотвращения случайного раскрытия геоданных.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480600" y="3676320"/>
            <a:ext cx="4753440" cy="1001160"/>
          </a:xfrm>
          <a:prstGeom prst="roundRect">
            <a:avLst>
              <a:gd name="adj" fmla="val 2057"/>
            </a:avLst>
          </a:prstGeom>
          <a:solidFill>
            <a:srgbClr val="c8cac1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617760" y="3813480"/>
            <a:ext cx="171612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00000"/>
                </a:solidFill>
                <a:effectLst/>
                <a:uFillTx/>
                <a:latin typeface="Hubot Sans Bold"/>
                <a:ea typeface="Hubot Sans Bold"/>
              </a:rPr>
              <a:t>ПЕРСПЕКТИВЫ</a:t>
            </a:r>
            <a:endParaRPr b="0" lang="ru-RU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617760" y="4107960"/>
            <a:ext cx="447876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1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Roboto Condensed"/>
                <a:ea typeface="Roboto Condensed"/>
              </a:rPr>
              <a:t>Форматы DMS/MGRS/UTM, пакетная обработка, маскировка адресов, интеграция как библиотеки, предпросмотр файла перед анонимизацией.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2026-05-23T19:26:44Z</dcterms:created>
  <dc:creator/>
  <dc:description/>
  <dc:language>ru-RU</dc:language>
  <cp:lastModifiedBy/>
  <dcterms:modified xsi:type="dcterms:W3CDTF">2026-05-23T22:31:19Z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